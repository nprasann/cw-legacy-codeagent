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556D-2E63-580E-265D-03AB08B2E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20205C-68C5-2803-99BD-F64C8B3A7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28294-A628-76DB-9032-9297DB50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3D24-A769-0D72-4041-0D81C1D6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68F9E-0C14-28DF-FE68-CFC025FC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C600-BB4F-9C5F-8D7A-9791ABA5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27A30-D702-F2A0-5AE0-350B70A48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5994-4F56-FE9F-80E1-CEC5F33C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48107-1CDF-DD76-8CC1-FCC721078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0E68-82F1-693D-6BB7-30470DEE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494A-FFD7-E7F3-4721-F23D4A1CC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017AB-7484-6216-D7D3-9F2348FD7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E1FC2-8876-1ED6-18E3-0EF709EF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17062-19A0-9CA4-4F51-13D9E722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999A3-2356-1A79-3371-14B6D4F2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2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C335-7EC2-1BB2-5779-9A56DCB8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82C3D-B621-184B-8029-F98B8298B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D5A73-10E4-9F01-70E8-E45F74F1D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BF9C9-393A-7399-BE50-14D394DC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BB90E-CC41-6CC5-7BFB-6B337AE6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FF526-274C-4FAA-F909-C69463D2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4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FC3C-2BF9-2F80-9E64-36004D41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D0E9F-E05D-6DF6-30B4-6D7948837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D4FE9-D088-9628-88A6-CA736E793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71C7B-A16C-8E9D-A877-5E0614022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59C7D-612E-B3FA-86ED-B1893D0E5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B38BA4-ECCA-8ED7-B2EC-F8D16537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1B150-091D-0A7F-0DDC-F43651F8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B37F2-5BB7-9F86-1EFB-3107231C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8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311E-2BFE-C91C-96CC-E38AF695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78F06-4591-70C2-902B-560E6C5BB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864C8-44D8-30B4-74EA-22EFAB0F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2A632-CFC4-72B8-97A0-9A696779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1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62F51-EAFF-807A-C2FD-7E754B6C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29CB2-AF6D-C68E-D1E5-3BB7B301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80E08-6870-969D-E1CB-E393AB46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5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21B2-D89D-6848-57B2-26CD9DB0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86ACA-4090-331D-1421-05D6CC9AB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9DBE7-A96E-33E1-A24C-D60636CE5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C60BE-71A6-99B4-54E8-A19BEE766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6B471-63BB-D5FE-A3C9-D2CE597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5FB-135F-93FE-9C79-A3040C02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0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E87E-15CB-296D-13B0-0F330666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414E0-AE93-65B2-F629-79644B54E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2D25D-ED55-2443-A9A7-DF062AE05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9D21A-7997-257E-5B30-42662DA7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6A4C4-BCA5-3C4B-022C-946F80A92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24C84-CB59-2636-9414-64B92622C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1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0725-7016-DA28-9FED-68768EE2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AF56A-1140-98DC-BF6C-587381FD5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EA21D-4650-60C8-39E4-714CCF84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61795-201E-F239-BD75-D1A805FB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D166C-CB8E-9547-83D7-60B4B84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9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2AD94-942E-25B4-1AFF-90145E6CB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66F83-B1F1-02C3-3CB2-E6BDE5C8B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7B7E4-5C57-369A-830B-09444A40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641C9-EAF5-425C-3B26-A6EB8C3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DBD4B-EB04-FFA6-B99D-E3A4CB4E9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65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CAA6-0172-AC18-12BE-746E3BA2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67440-0A9D-6191-BBCB-E273B9DC4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36B5-1ABC-0ED7-646F-9381F7ED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8D153-089B-360B-9915-D783B21A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082C0-38AD-4065-BC7B-2A2908132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BB37DB-BC78-92BE-469D-CF7799494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F9EC8-BF24-8833-ED3A-A014BF6B8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89015-4F13-6C2A-A830-9C3783E79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A47F4-E5C3-4CF9-B057-26FA3D2E1F7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9A638-F897-A5B2-DEC4-C2EF742D6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E514C-73ED-B48F-D610-5E91D49CE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0B2F6-CAE5-4104-97A7-9152FC43D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2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9045-5C0C-3D40-3ABD-C249B3D0C8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Legacy Knowledge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B32A9-75D1-3FFC-79C0-D60770A7A2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7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A0FA-6A3D-24F3-7580-9565BEC6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The Problem: The Legacy Iceberg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A1E7-C6CE-ECA1-4177-811530D1A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220+ billion lines of COBOL still run payments, claims, benefits, tax.</a:t>
            </a:r>
          </a:p>
          <a:p>
            <a:pPr marL="0" indent="0">
              <a:buNone/>
            </a:pPr>
            <a:r>
              <a:rPr lang="en-US" sz="1800"/>
              <a:t>Tens of thousands of Struts 1.x apps past end-of-life.</a:t>
            </a:r>
          </a:p>
          <a:p>
            <a:pPr marL="0" indent="0">
              <a:buNone/>
            </a:pPr>
            <a:r>
              <a:rPr lang="en-US" sz="1800"/>
              <a:t>Median COBOL engineer is 55+. SMEs retire faster than they are replaced.</a:t>
            </a:r>
          </a:p>
          <a:p>
            <a:pPr marL="0" indent="0">
              <a:buNone/>
            </a:pPr>
            <a:r>
              <a:rPr lang="en-US" sz="1800"/>
              <a:t>Documentation is missing, stale, or contradictory.</a:t>
            </a:r>
          </a:p>
          <a:p>
            <a:pPr marL="0" indent="0">
              <a:buNone/>
            </a:pPr>
            <a:r>
              <a:rPr lang="en-US" sz="1800"/>
              <a:t>A 5-line change can blow up a $40M nightly batch run.</a:t>
            </a:r>
          </a:p>
        </p:txBody>
      </p:sp>
    </p:spTree>
    <p:extLst>
      <p:ext uri="{BB962C8B-B14F-4D97-AF65-F5344CB8AC3E}">
        <p14:creationId xmlns:p14="http://schemas.microsoft.com/office/powerpoint/2010/main" val="235586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20A1-F58E-5FE9-02CA-BB49CDF5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Why Generic AI Falls Short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C760F-A63F-1EE4-00B5-8F2DD168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GitHub Copilot was trained on GitHub. GitHub does not have your COBOL.</a:t>
            </a:r>
          </a:p>
          <a:p>
            <a:pPr marL="0" indent="0">
              <a:buNone/>
            </a:pPr>
            <a:r>
              <a:rPr lang="en-US" sz="1800"/>
              <a:t>It does not have your tribal Slack threads, retired-SME interviews, or "do not touch" invariants.</a:t>
            </a:r>
          </a:p>
          <a:p>
            <a:pPr marL="0" indent="0">
              <a:buNone/>
            </a:pPr>
            <a:r>
              <a:rPr lang="en-US" sz="1800"/>
              <a:t>Generic AI invents plausible answers. Compliance cannot approve "plausible."</a:t>
            </a:r>
          </a:p>
          <a:p>
            <a:pPr marL="0" indent="0">
              <a:buNone/>
            </a:pPr>
            <a:r>
              <a:rPr lang="en-US" sz="1800"/>
              <a:t>Legacy work needs auditable answers, not autocomplete.</a:t>
            </a:r>
          </a:p>
        </p:txBody>
      </p:sp>
    </p:spTree>
    <p:extLst>
      <p:ext uri="{BB962C8B-B14F-4D97-AF65-F5344CB8AC3E}">
        <p14:creationId xmlns:p14="http://schemas.microsoft.com/office/powerpoint/2010/main" val="416992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1BE6-0E84-7135-A2A4-B07161A9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The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A3CE3-ADC7-B44E-C32C-9C98A756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Reads COBOL, JCL, Struts 1, JSPs, non-normalized SQL Server, T-SQL stored procs.</a:t>
            </a:r>
          </a:p>
          <a:p>
            <a:pPr marL="0" indent="0">
              <a:buNone/>
            </a:pPr>
            <a:r>
              <a:rPr lang="en-US" sz="1800"/>
              <a:t>Grounds every answer in curated tribal docs, technical papers, runbooks.</a:t>
            </a:r>
          </a:p>
          <a:p>
            <a:pPr marL="0" indent="0">
              <a:buNone/>
            </a:pPr>
            <a:r>
              <a:rPr lang="en-US" sz="1800"/>
              <a:t>Reviews legacy code with a risk lens - distinguishes "bad code" from "load-bearing code."</a:t>
            </a:r>
          </a:p>
          <a:p>
            <a:pPr marL="0" indent="0">
              <a:buNone/>
            </a:pPr>
            <a:r>
              <a:rPr lang="en-US" sz="1800"/>
              <a:t>Plans modernization incrementally - strangler-fig, characterization tests, phased rollout.</a:t>
            </a:r>
          </a:p>
          <a:p>
            <a:pPr marL="0" indent="0">
              <a:buNone/>
            </a:pPr>
            <a:r>
              <a:rPr lang="en-US" sz="1800"/>
              <a:t>Cites every grounded claim and labels confidence: grounded | partial | inferred.</a:t>
            </a:r>
          </a:p>
        </p:txBody>
      </p:sp>
    </p:spTree>
    <p:extLst>
      <p:ext uri="{BB962C8B-B14F-4D97-AF65-F5344CB8AC3E}">
        <p14:creationId xmlns:p14="http://schemas.microsoft.com/office/powerpoint/2010/main" val="3658463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346C-E51A-7930-10AB-E710380C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How It Works: 3 Agents, 8 Skills, 1 Knowledge 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9CDBE-065B-EAB4-5258-D8541FB20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@legacy-code  -  reads and explains legacy source</a:t>
            </a:r>
          </a:p>
          <a:p>
            <a:pPr marL="0" indent="0">
              <a:buNone/>
            </a:pPr>
            <a:r>
              <a:rPr lang="en-US" sz="1800"/>
              <a:t>@knowledge    -  grounds answers in /knowledge with citations</a:t>
            </a:r>
          </a:p>
          <a:p>
            <a:pPr marL="0" indent="0">
              <a:buNone/>
            </a:pPr>
            <a:r>
              <a:rPr lang="en-US" sz="1800"/>
              <a:t>@review       -  legacy-aware code review + modernization scoring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Skills: COBOL flow, Struts 1 lifecycle, batch job analysis, SQL schema analysis,</a:t>
            </a:r>
          </a:p>
          <a:p>
            <a:pPr marL="0" indent="0">
              <a:buNone/>
            </a:pPr>
            <a:r>
              <a:rPr lang="en-US" sz="1800"/>
              <a:t>        code review, knowledge grounding, modernization, legacy code explanation.</a:t>
            </a:r>
          </a:p>
          <a:p>
            <a:pPr marL="0" indent="0">
              <a:buNone/>
            </a:pPr>
            <a:r>
              <a:rPr lang="en-US" sz="1800"/>
              <a:t>Knowledge: tribal / technical-papers / runbooks / do-not-touch.</a:t>
            </a:r>
          </a:p>
        </p:txBody>
      </p:sp>
    </p:spTree>
    <p:extLst>
      <p:ext uri="{BB962C8B-B14F-4D97-AF65-F5344CB8AC3E}">
        <p14:creationId xmlns:p14="http://schemas.microsoft.com/office/powerpoint/2010/main" val="27218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DFD0-5562-530F-7295-FA6D4C7D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Architecture: Multi-agent, Grounded, in VS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58459-DA87-0CB4-D8C7-1D39C4BE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Developer in VS Code -&gt; Copilot Chat -&gt; Agent Router</a:t>
            </a:r>
          </a:p>
          <a:p>
            <a:pPr marL="0" indent="0">
              <a:buNone/>
            </a:pPr>
            <a:r>
              <a:rPr lang="en-US" sz="1800"/>
              <a:t>                  -&gt; @legacy-code | @knowledge | @review</a:t>
            </a:r>
          </a:p>
          <a:p>
            <a:pPr marL="0" indent="0">
              <a:buNone/>
            </a:pPr>
            <a:r>
              <a:rPr lang="en-US" sz="1800"/>
              <a:t>                  -&gt; Skills -&gt; /knowledge (tribal | runbooks | papers | do-not-touch)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Zero infrastructure. Just VS Code + Copilot Chat.</a:t>
            </a:r>
          </a:p>
          <a:p>
            <a:pPr marL="0" indent="0">
              <a:buNone/>
            </a:pPr>
            <a:r>
              <a:rPr lang="en-US" sz="1800"/>
              <a:t>Awesome-copilot conventions. Extensible by drop-in.</a:t>
            </a:r>
          </a:p>
        </p:txBody>
      </p:sp>
    </p:spTree>
    <p:extLst>
      <p:ext uri="{BB962C8B-B14F-4D97-AF65-F5344CB8AC3E}">
        <p14:creationId xmlns:p14="http://schemas.microsoft.com/office/powerpoint/2010/main" val="1924689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00F0-8EF6-E835-3B00-3D271DD5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Demo 1: Explain a 28-Year-Old COBOL Batch - Grounded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D67F8-2384-D879-282B-1E632493F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/>
              <a:t>Open: examples/cobol/NB_POST.CBL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Prompt:</a:t>
            </a:r>
          </a:p>
          <a:p>
            <a:pPr marL="0" indent="0">
              <a:buNone/>
            </a:pPr>
            <a:r>
              <a:rPr lang="en-US" sz="1800"/>
              <a:t>@legacy-code Explain examples/cobol/NB_POST.CBL end-to-end.</a:t>
            </a:r>
          </a:p>
          <a:p>
            <a:pPr marL="0" indent="0">
              <a:buNone/>
            </a:pPr>
            <a:r>
              <a:rPr lang="en-US" sz="1800"/>
              <a:t>Pull tribal context for magic status codes (A,R,H,Z9). Cite every grounded claim.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Watch for: division map, control-flow diagram,</a:t>
            </a:r>
          </a:p>
          <a:p>
            <a:pPr marL="0" indent="0">
              <a:buNone/>
            </a:pPr>
            <a:r>
              <a:rPr lang="en-US" sz="1800"/>
              <a:t>magic-code table where Z9 is CITED to knowledge/tribal,</a:t>
            </a:r>
          </a:p>
          <a:p>
            <a:pPr marL="0" indent="0">
              <a:buNone/>
            </a:pPr>
            <a:r>
              <a:rPr lang="en-US" sz="1800"/>
              <a:t>and a Gaps section listing what is still missing.</a:t>
            </a:r>
          </a:p>
        </p:txBody>
      </p:sp>
    </p:spTree>
    <p:extLst>
      <p:ext uri="{BB962C8B-B14F-4D97-AF65-F5344CB8AC3E}">
        <p14:creationId xmlns:p14="http://schemas.microsoft.com/office/powerpoint/2010/main" val="425548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D84D-997B-4B87-0780-989FA43B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Demo 2: Catch a Cross-Layer Risk Before It Ships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FE94F-E14B-3B4F-14A4-B4A6C28E0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/>
              <a:t>Open: examples/struts/.../ApproveClaimAction.java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Prompt:</a:t>
            </a:r>
          </a:p>
          <a:p>
            <a:pPr marL="0" indent="0">
              <a:buNone/>
            </a:pPr>
            <a:r>
              <a:rPr lang="en-US" sz="1800"/>
              <a:t>@review Review this Action and the stored procedure it calls.</a:t>
            </a:r>
          </a:p>
          <a:p>
            <a:pPr marL="0" indent="0">
              <a:buNone/>
            </a:pPr>
            <a:r>
              <a:rPr lang="en-US" sz="1800"/>
              <a:t>Lenses: security, correctness, backward-compat with NB_POST_NIGHTLY.</a:t>
            </a:r>
          </a:p>
          <a:p>
            <a:pPr marL="0" indent="0">
              <a:buNone/>
            </a:pPr>
            <a:r>
              <a:rPr lang="en-US" sz="1800"/>
              <a:t>Honor /knowledge/do-not-touch.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Findings:</a:t>
            </a:r>
          </a:p>
          <a:p>
            <a:pPr marL="0" indent="0">
              <a:buNone/>
            </a:pPr>
            <a:r>
              <a:rPr lang="en-US" sz="1800"/>
              <a:t>[blocker] [security] SQL injection</a:t>
            </a:r>
          </a:p>
          <a:p>
            <a:pPr marL="0" indent="0">
              <a:buNone/>
            </a:pPr>
            <a:r>
              <a:rPr lang="en-US" sz="1800"/>
              <a:t>[blocker] [security] Hard-coded credentials</a:t>
            </a:r>
          </a:p>
          <a:p>
            <a:pPr marL="0" indent="0">
              <a:buNone/>
            </a:pPr>
            <a:r>
              <a:rPr lang="en-US" sz="1800"/>
              <a:t>[major]   [correctness] No transaction boundary</a:t>
            </a:r>
          </a:p>
          <a:p>
            <a:pPr marL="0" indent="0">
              <a:buNone/>
            </a:pPr>
            <a:r>
              <a:rPr lang="en-US" sz="1800"/>
              <a:t>Did NOT violate the Z9 invariant - checked /knowledge.</a:t>
            </a:r>
          </a:p>
        </p:txBody>
      </p:sp>
    </p:spTree>
    <p:extLst>
      <p:ext uri="{BB962C8B-B14F-4D97-AF65-F5344CB8AC3E}">
        <p14:creationId xmlns:p14="http://schemas.microsoft.com/office/powerpoint/2010/main" val="157258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9EFB4-2C66-D63B-C12C-A4BCA57F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Demo 3 + Why We Win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249DA-3D53-A5A8-F9AD-D9C9C29EB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/>
              <a:t>Prompt: @legacy-code Analyze examples/sql/schema.sql ...</a:t>
            </a:r>
          </a:p>
          <a:p>
            <a:pPr marL="0" indent="0">
              <a:buNone/>
            </a:pPr>
            <a:r>
              <a:rPr lang="en-US" sz="1800"/>
              <a:t>Output: column dictionary, inferred foreign keys, decoded ROUTING_FLAGS bitfield,</a:t>
            </a:r>
          </a:p>
          <a:p>
            <a:pPr marL="0" indent="0">
              <a:buNone/>
            </a:pPr>
            <a:r>
              <a:rPr lang="en-US" sz="1800"/>
              <a:t>and a value-vs-blast-radius normalization roadmap.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Why we are different:</a:t>
            </a:r>
          </a:p>
          <a:p>
            <a:pPr marL="0" indent="0">
              <a:buNone/>
            </a:pPr>
            <a:r>
              <a:rPr lang="en-US" sz="1800"/>
              <a:t>Built for legacy - not a generic "explain my code" tool.</a:t>
            </a:r>
          </a:p>
          <a:p>
            <a:pPr marL="0" indent="0">
              <a:buNone/>
            </a:pPr>
            <a:r>
              <a:rPr lang="en-US" sz="1800"/>
              <a:t>Cited, not invented - every claim links back to /knowledge.</a:t>
            </a:r>
          </a:p>
          <a:p>
            <a:pPr marL="0" indent="0">
              <a:buNone/>
            </a:pPr>
            <a:r>
              <a:rPr lang="en-US" sz="1800"/>
              <a:t>Veto rules - do-not-touch invariants are honored.</a:t>
            </a:r>
          </a:p>
          <a:p>
            <a:pPr marL="0" indent="0">
              <a:buNone/>
            </a:pPr>
            <a:r>
              <a:rPr lang="en-US" sz="1800"/>
              <a:t>Composable - new stacks (DB2, CICS, SSIS) = folder + skill.</a:t>
            </a:r>
          </a:p>
          <a:p>
            <a:pPr marL="0" indent="0">
              <a:buNone/>
            </a:pPr>
            <a:r>
              <a:rPr lang="en-US" sz="1800"/>
              <a:t>Zero infra - VS Code + Copilot. Ship today.</a:t>
            </a:r>
          </a:p>
        </p:txBody>
      </p:sp>
    </p:spTree>
    <p:extLst>
      <p:ext uri="{BB962C8B-B14F-4D97-AF65-F5344CB8AC3E}">
        <p14:creationId xmlns:p14="http://schemas.microsoft.com/office/powerpoint/2010/main" val="3200344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6CEA-C94E-1150-8423-2E3F9C0BB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Real-World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2154A-1D33-B222-384D-0B099E588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Onboard to a legacy module in minutes - not weeks.</a:t>
            </a:r>
          </a:p>
          <a:p>
            <a:pPr marL="0" indent="0">
              <a:buNone/>
            </a:pPr>
            <a:r>
              <a:rPr lang="en-US" sz="1800"/>
              <a:t>Catch blast-radius issues at PR time - not at 2 AM in production.</a:t>
            </a:r>
          </a:p>
          <a:p>
            <a:pPr marL="0" indent="0">
              <a:buNone/>
            </a:pPr>
            <a:r>
              <a:rPr lang="en-US" sz="1800"/>
              <a:t>Turn one SME notebook into a queryable knowledge graph.</a:t>
            </a:r>
          </a:p>
          <a:p>
            <a:pPr marL="0" indent="0">
              <a:buNone/>
            </a:pPr>
            <a:r>
              <a:rPr lang="en-US" sz="1800"/>
              <a:t>Make modernization a roadmap - not a rewrite.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Before:  Senior SME bottleneck, doc rot, "do not touch", failed rewrites.</a:t>
            </a:r>
          </a:p>
          <a:p>
            <a:pPr marL="0" indent="0">
              <a:buNone/>
            </a:pPr>
            <a:r>
              <a:rPr lang="en-US" sz="1800"/>
              <a:t>After:   Self-serve grounded answers, knowledge promoted on every Gap,</a:t>
            </a:r>
          </a:p>
          <a:p>
            <a:pPr marL="0" indent="0">
              <a:buNone/>
            </a:pPr>
            <a:r>
              <a:rPr lang="en-US" sz="1800"/>
              <a:t>         cited explanations, risk-scored changes, strangler-fig plans that ship.</a:t>
            </a:r>
          </a:p>
        </p:txBody>
      </p:sp>
    </p:spTree>
    <p:extLst>
      <p:ext uri="{BB962C8B-B14F-4D97-AF65-F5344CB8AC3E}">
        <p14:creationId xmlns:p14="http://schemas.microsoft.com/office/powerpoint/2010/main" val="154588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7CE7-A746-69E6-1084-586F15A7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Roadmap and Close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55E25-73D9-4E4D-5E94-02FBE1F7E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/>
              <a:t>30 days  -  KnowledgeIngestor skill (PDF / Confluence / Word -&gt; headered markdown).</a:t>
            </a:r>
          </a:p>
          <a:p>
            <a:pPr marL="0" indent="0">
              <a:buNone/>
            </a:pPr>
            <a:r>
              <a:rPr lang="en-US" sz="1800"/>
              <a:t>90 days  -  Static analyzers (Struts graph, COBOL PERFORM/CALL, T-SQL deps);</a:t>
            </a:r>
          </a:p>
          <a:p>
            <a:pPr marL="0" indent="0">
              <a:buNone/>
            </a:pPr>
            <a:r>
              <a:rPr lang="en-US" sz="1800"/>
              <a:t>            characterization-test generator; one-click modernization briefs.</a:t>
            </a:r>
          </a:p>
          <a:p>
            <a:pPr marL="0" indent="0">
              <a:buNone/>
            </a:pPr>
            <a:r>
              <a:rPr lang="en-US" sz="1800"/>
              <a:t>Beyond   -  MainframeAgent (VSAM/DB2/IMS/CICS), DataAgent (SSIS/DataStage/Informatica),</a:t>
            </a:r>
          </a:p>
          <a:p>
            <a:pPr marL="0" indent="0">
              <a:buNone/>
            </a:pPr>
            <a:r>
              <a:rPr lang="en-US" sz="1800"/>
              <a:t>            GitHub Actions PR reviewer, VS Code extension, voice-mode SME capture.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Legacy is not bad code. It is load-bearing code.</a:t>
            </a:r>
          </a:p>
          <a:p>
            <a:pPr marL="0" indent="0">
              <a:buNone/>
            </a:pPr>
            <a:r>
              <a:rPr lang="en-US" sz="1800"/>
              <a:t>We make it readable, reviewable, and ready for the next 20 years.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github.com/washington-dcyf-u04_clabs/cw-legacy-codeagent</a:t>
            </a:r>
          </a:p>
        </p:txBody>
      </p:sp>
    </p:spTree>
    <p:extLst>
      <p:ext uri="{BB962C8B-B14F-4D97-AF65-F5344CB8AC3E}">
        <p14:creationId xmlns:p14="http://schemas.microsoft.com/office/powerpoint/2010/main" val="42870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Office PowerPoint</Application>
  <PresentationFormat>On-screen Show (16:9)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Legacy Knowledge Copilot</vt:lpstr>
      <vt:lpstr>The Problem: The Legacy Iceberg</vt:lpstr>
      <vt:lpstr>Why Generic AI Falls Short</vt:lpstr>
      <vt:lpstr>The Solution</vt:lpstr>
      <vt:lpstr>How It Works: 3 Agents, 8 Skills, 1 Knowledge Base</vt:lpstr>
      <vt:lpstr>Architecture: Multi-agent, Grounded, in VS Code</vt:lpstr>
      <vt:lpstr>Demo 1: Explain a 28-Year-Old COBOL Batch - Grounded</vt:lpstr>
      <vt:lpstr>Demo 2: Catch a Cross-Layer Risk Before It Ships</vt:lpstr>
      <vt:lpstr>Demo 3 + Why We Win</vt:lpstr>
      <vt:lpstr>Real-World Impact</vt:lpstr>
      <vt:lpstr>Roadmap and Close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WASHINGTON-DCYF U04</dc:creator>
  <cp:lastModifiedBy>WASHINGTON-DCYF U04</cp:lastModifiedBy>
  <cp:revision>1</cp:revision>
  <dcterms:created xsi:type="dcterms:W3CDTF">2026-06-09T20:54:15Z</dcterms:created>
  <dcterms:modified xsi:type="dcterms:W3CDTF">2026-06-09T20:54:15Z</dcterms:modified>
</cp:coreProperties>
</file>